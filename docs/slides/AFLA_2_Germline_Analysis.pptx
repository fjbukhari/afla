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38"/>
                </a:solidFill>
                <a:latin typeface="Arial"/>
              </a:rPr>
              <a:t>Variants left after each filter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Variants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All calls</c:v>
                  </c:pt>
                  <c:pt idx="1">
                    <c:v>PASS</c:v>
                  </c:pt>
                  <c:pt idx="2">
                    <c:v>Protein-affecting, rare (≤1%)</c:v>
                  </c:pt>
                  <c:pt idx="3">
                    <c:v>VUS or worse (suggested)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2104</c:v>
                </c:pt>
                <c:pt idx="1">
                  <c:v>2037</c:v>
                </c:pt>
                <c:pt idx="2">
                  <c:v>22</c:v>
                </c:pt>
                <c:pt idx="3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38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38"/>
                </a:solidFill>
                <a:latin typeface="Arial"/>
              </a:rPr>
              <a:t>F1 score (1.00 = perfect)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SNV F1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HG002</c:v>
                  </c:pt>
                  <c:pt idx="1">
                    <c:v>HG003</c:v>
                  </c:pt>
                  <c:pt idx="2">
                    <c:v>HG004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0.9985</c:v>
                </c:pt>
                <c:pt idx="1">
                  <c:v>0.9985</c:v>
                </c:pt>
                <c:pt idx="2">
                  <c:v>0.9971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Indel F1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HG002</c:v>
                  </c:pt>
                  <c:pt idx="1">
                    <c:v>HG003</c:v>
                  </c:pt>
                  <c:pt idx="2">
                    <c:v>HG004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0.9014</c:v>
                </c:pt>
                <c:pt idx="1">
                  <c:v>0.9492</c:v>
                </c:pt>
                <c:pt idx="2">
                  <c:v>0.8696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6ECEF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1188720" cy="11887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474013"/>
            <a:ext cx="618134" cy="61813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A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BEGINNER GUIDE 2 OF 3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Germline analysis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80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reads to a classified variant: QC, filtering, inheritance, ACMG/AMP evidence and the case report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research use only · not for clinical diagnosis or patient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click Run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can be switched on or off in the 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reads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fastp removes adapters and poor-quality ends; writes a QC report.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752344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5234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83864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52344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52344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bwa places reads on GRCh38; duplicates marked (capture) or primers clipped (amplicon).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047488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779008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047488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variants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047488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GATK or DeepVariant (GPU). Families are genotyped together.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342632" y="1737360"/>
            <a:ext cx="640080" cy="64008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4263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74152" y="2057400"/>
            <a:ext cx="1472184" cy="0"/>
          </a:xfrm>
          <a:prstGeom prst="line">
            <a:avLst/>
          </a:prstGeom>
          <a:noFill/>
          <a:ln w="25400">
            <a:solidFill>
              <a:srgbClr val="D5E0E4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342632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layers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42632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 (CNVkit), runs of homozygosity, structural variants (Manta).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37776" y="173736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2514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315468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 adds genes, HGVS, gnomAD, ClinVar, REVEL, AlphaMissense; AFLA adds ACMG evidence and HPO ranking.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case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fields that make the report much smarter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83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sheet (families)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23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with sample, role, sex, family, hpo. Family members are called together, so de novo and compound heterozygous variants can be recognised.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783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HPO terms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423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patient's features as HPO codes, e.g. HP:0001250 (seizure). Genes are ranked by how well their known phenotypes match.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292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list / panel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800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to focus on, or a PanelApp panel chosen inside the report: a "virtual panel" that avoids incidental findings.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42921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ID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0" y="48006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pseudonym printed on the report. Never use a patient's name.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1: Quality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sequencing good enough to trust a negative result?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" y="1426464"/>
            <a:ext cx="7022592" cy="434209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opt/shots/g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2689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0513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report: GIAB trio, chromosome 20 exome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reads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98% for human DNA.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exomes often 5-20%.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depth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exome ≥ 100×.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20×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≥ 95% of targets.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Ti/Tv, het/hom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checks of the calls.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Low-coverage list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where a variant could be missed.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2: Variants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 do the first filtering for you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" y="1426464"/>
            <a:ext cx="7022592" cy="434209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opt/shots/g_varia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2689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0513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Presets, filters and the variant table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ACMG points + phenotype match + your gene list.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protein-affecting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≤ 1%, HIGH/MODERATE impact.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P/LP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reported as disease-causing.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/ Recessive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trios.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column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sort; a row to open details.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is a funnel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from one exome slice (HG002, chromosome 20)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737360"/>
            <a:ext cx="3749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exome has 20,000-50,000 variants; most are common and harmless.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remove what cannot explain a rare disease.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is reviewed one by one: that is interpretation.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strict a filter can hide the answer: always know what you removed.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variant card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about one variant, plus the family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" y="1426464"/>
            <a:ext cx="7022592" cy="434209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opt/shots/g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2689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0513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card with family genotypes and links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Gene, transcript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 Select transcript, exon, HGVS names.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 exomes/genomes, max population.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REVEL, AlphaMissense, SpliceAI.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genotype, depth and VAF of each member.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gnomAD, ClinVar, UCSC, ClinGen, OMIM, PubMed, PanelApp.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check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gnomAD/ClinVar with one click.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trio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labels AFLA adds automatically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280160"/>
                <a:gridCol w="128016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 of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novo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(≈50%)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disorders, new mutations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de novo (low VAF)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&lt; 25%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artefact; sometimes mosaic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homozygous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recessive disorders (consanguinity)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heterozygous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+ het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other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recessive, two different variants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hemizygous (X-linked)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 (male)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X-linked recessive in boys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from ...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if that parent is affected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GIAB test, all 5 "de novo-looking" calls had 8-17% of reads: artefacts. True constitutional de novo variants sit near 50%.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ACMG/AMP evidence panel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evidence; the class updates live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" y="1426464"/>
            <a:ext cx="7022592" cy="434209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opt/shots/g_ac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2689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0513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criteria; suggested ones pre-ticked with the reason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data: PVS1, PS1, PM2, PM4, PM5, PP3/BP4, BA1, BS1, BP7, PM6, PM3.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automatic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PS3, PS4, PP1, PP4, BS3, BS4, BP5: need literature, segregation or phenotype.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with the drop-down (e.g. PP3 strong for REVEL ≥ 0.932).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reasoning; star ☆ to report.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evidence to a class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points (Tavtigian et al. 2020)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(e.g. PVS1)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(e.g. PS1, PP3 strong)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(e.g. PM4, PM5)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645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0A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2514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(e.g. PM2, PP3). Benign criteria count negative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to 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 to -6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-7 (or BA1)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pathogenic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 significance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benign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stop-gain in a loss-of-function intolerant gene (PVS1 = 8) absent from gnomAD (PM2 = 1) and de novo (PM6 = 2) → 11 points → Pathogenic.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Phenotype matching (HPO)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genes fit the patient?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B4F6C"/>
          </a:solidFill>
          <a:ln w="12700">
            <a:solidFill>
              <a:srgbClr val="0B4F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enter features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88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seizure (HP:0001250) + global developmental delay (HP:0001263).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828800"/>
            <a:ext cx="548640" cy="548640"/>
          </a:xfrm>
          <a:prstGeom prst="ellipse">
            <a:avLst/>
          </a:prstGeom>
          <a:solidFill>
            <a:srgbClr val="20A39E"/>
          </a:solidFill>
          <a:ln w="12700">
            <a:solidFill>
              <a:srgbClr val="20A39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34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AFLA compares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4688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each gene's known features in the Human Phenotype Ontology (semantic similarity, 0-1).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9604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1828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rise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test, epilepsy genes (SLC12A5, KCNB1, KCNQ2, EEF1A2) ranked top on chromosome 20.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HPO score is support, not proof: the healthy GIAB sample has none of these diseases.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specific terms help more than general ones ("infantile spasms" beats "seizure").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number and homozygosity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single-letter changes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" y="1426464"/>
            <a:ext cx="7022592" cy="434209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opt/shots/g_c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949440" cy="42689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580513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CNVkit plot and segments (reference: other samples of the run)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554480"/>
            <a:ext cx="39319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≈ -1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lost; ≈ +0.58 one copy gained.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matters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"pooled" (3+ samples, same kit) or your own; "flat" is weak.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CNVs by MLPA, array or qPCR.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homozygous stretches: consanguinity, and where recessive genes hide.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mode and the case report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doing, then compare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0624" y="1472184"/>
            <a:ext cx="5513832" cy="341528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opt/shots/g_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5440680" cy="33421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92404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mode hides ClinVar and suggestions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27064" y="1472184"/>
            <a:ext cx="5513832" cy="3415284"/>
          </a:xfrm>
          <a:prstGeom prst="rect">
            <a:avLst/>
          </a:prstGeom>
          <a:solidFill>
            <a:srgbClr val="D5E0E4"/>
          </a:solidFill>
          <a:ln w="12700">
            <a:solidFill>
              <a:srgbClr val="D5E0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opt/shots/g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08760"/>
            <a:ext cx="5440680" cy="33421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492404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case report built from your ☆ choices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classify blind, then untick exercise mode to compare.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 my work" keeps stars, criteria and notes in a small file for marking.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 is it?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Genome in a Bottle truth sets (chr20 exome targets, GATK)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1323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737360"/>
            <a:ext cx="3749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SNVs: &gt; 99.7% found, almost no false calls.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Indels are harder (small numbers here: ~30 per sample).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false calls: low-VAF indels in homopolymers; the LowVAF label removes most of them.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this benchmark yourself: scripts/afla-benchmark.sh (deck exercise 2).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15580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Germline pitfalls to remember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coverage, no conclusion: check low-coverage regions before calling a result negative.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VAF "heterozygous" calls are usually artefacts; confirm anything important by Sanger.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Pseudogenes and repeats (PMS2, SMN1, CYP2D6, repeat expansions) are not reliable with short reads.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ClinVar changes: re-check with the live button; frequencies matter as much as predictions.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3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are a start: the classification is yours, with literature and family data.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  ·  education and research only  · 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AFLA 2: Germline analysis</dc:title>
  <dc:subject>PptxGenJS Presentation</dc:subject>
  <dc:creator>AFLA project</dc:creator>
  <cp:lastModifiedBy>AFLA project</cp:lastModifiedBy>
  <cp:revision>1</cp:revision>
  <dcterms:created xsi:type="dcterms:W3CDTF">2026-09-29T19:14:40Z</dcterms:created>
  <dcterms:modified xsi:type="dcterms:W3CDTF">2026-09-29T19:14:40Z</dcterms:modified>
</cp:coreProperties>
</file>